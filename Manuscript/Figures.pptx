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258" r:id="rId3"/>
    <p:sldId id="259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orient="horz" pos="32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63"/>
    <p:restoredTop sz="94694"/>
  </p:normalViewPr>
  <p:slideViewPr>
    <p:cSldViewPr snapToGrid="0" showGuides="1">
      <p:cViewPr>
        <p:scale>
          <a:sx n="60" d="100"/>
          <a:sy n="60" d="100"/>
        </p:scale>
        <p:origin x="4000" y="824"/>
      </p:cViewPr>
      <p:guideLst>
        <p:guide orient="horz" pos="2155"/>
        <p:guide pos="2160"/>
        <p:guide orient="horz" pos="32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51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594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8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746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8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43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3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5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12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6ACC-1BFA-504B-82D9-4864115AE021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74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586ACC-1BFA-504B-82D9-4864115AE021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2A654-C2C6-1848-A3EA-F2B41E4C0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862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D7814-AD27-F2E6-6763-569E2502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3AF2CC-CCE6-53A3-0C79-F644418F9BC3}"/>
              </a:ext>
            </a:extLst>
          </p:cNvPr>
          <p:cNvSpPr/>
          <p:nvPr/>
        </p:nvSpPr>
        <p:spPr>
          <a:xfrm>
            <a:off x="398632" y="217541"/>
            <a:ext cx="6179967" cy="14052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150CE4-9DF7-D47F-43CD-0B7583559252}"/>
              </a:ext>
            </a:extLst>
          </p:cNvPr>
          <p:cNvSpPr/>
          <p:nvPr/>
        </p:nvSpPr>
        <p:spPr>
          <a:xfrm>
            <a:off x="255210" y="3914452"/>
            <a:ext cx="1498315" cy="1498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5B786E-1AD4-F263-7907-C5EBA83B79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20" t="15938" r="3859" b="4541"/>
          <a:stretch>
            <a:fillRect/>
          </a:stretch>
        </p:blipFill>
        <p:spPr>
          <a:xfrm>
            <a:off x="1933137" y="1656263"/>
            <a:ext cx="4645463" cy="3867057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4A1C1621-C6D2-BB92-90B0-09E1D34DB88F}"/>
              </a:ext>
            </a:extLst>
          </p:cNvPr>
          <p:cNvGrpSpPr/>
          <p:nvPr/>
        </p:nvGrpSpPr>
        <p:grpSpPr>
          <a:xfrm>
            <a:off x="172537" y="5970646"/>
            <a:ext cx="4435637" cy="3863280"/>
            <a:chOff x="172537" y="5970646"/>
            <a:chExt cx="4462958" cy="386328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67E024DB-5577-F854-1261-BD7292746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755"/>
            <a:stretch>
              <a:fillRect/>
            </a:stretch>
          </p:blipFill>
          <p:spPr>
            <a:xfrm>
              <a:off x="2311112" y="5984209"/>
              <a:ext cx="2324383" cy="178584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21311EC-891D-DED5-0E4B-8C6B121EC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6073"/>
            <a:stretch>
              <a:fillRect/>
            </a:stretch>
          </p:blipFill>
          <p:spPr>
            <a:xfrm>
              <a:off x="172537" y="5970646"/>
              <a:ext cx="2198561" cy="1802817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5564D6C-DA80-F39A-19D0-C45A00CB2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6073"/>
            <a:stretch>
              <a:fillRect/>
            </a:stretch>
          </p:blipFill>
          <p:spPr>
            <a:xfrm>
              <a:off x="172537" y="8031108"/>
              <a:ext cx="2217714" cy="1802818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06D9F063-7793-1CD1-4C0D-515107071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6556"/>
            <a:stretch>
              <a:fillRect/>
            </a:stretch>
          </p:blipFill>
          <p:spPr>
            <a:xfrm>
              <a:off x="2404503" y="8032186"/>
              <a:ext cx="2128765" cy="1793544"/>
            </a:xfrm>
            <a:prstGeom prst="rect">
              <a:avLst/>
            </a:prstGeom>
          </p:spPr>
        </p:pic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E254CB69-2878-E6CC-3BD8-251BA65617A4}"/>
              </a:ext>
            </a:extLst>
          </p:cNvPr>
          <p:cNvSpPr txBox="1"/>
          <p:nvPr/>
        </p:nvSpPr>
        <p:spPr>
          <a:xfrm>
            <a:off x="1030400" y="5747296"/>
            <a:ext cx="413830" cy="24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Hao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2C5C03-04B9-1054-E2EB-D181E7BBECE1}"/>
              </a:ext>
            </a:extLst>
          </p:cNvPr>
          <p:cNvSpPr txBox="1"/>
          <p:nvPr/>
        </p:nvSpPr>
        <p:spPr>
          <a:xfrm>
            <a:off x="1004368" y="7805678"/>
            <a:ext cx="534899" cy="24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Triana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8EC86C-EA24-681B-A8AC-1124ACB55554}"/>
              </a:ext>
            </a:extLst>
          </p:cNvPr>
          <p:cNvSpPr txBox="1"/>
          <p:nvPr/>
        </p:nvSpPr>
        <p:spPr>
          <a:xfrm>
            <a:off x="3095514" y="7779195"/>
            <a:ext cx="666972" cy="24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 err="1"/>
              <a:t>Luecken</a:t>
            </a:r>
            <a:endParaRPr lang="en-US" sz="10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38A12A-8644-ED3E-CB07-7F29DE4C8448}"/>
              </a:ext>
            </a:extLst>
          </p:cNvPr>
          <p:cNvSpPr txBox="1"/>
          <p:nvPr/>
        </p:nvSpPr>
        <p:spPr>
          <a:xfrm>
            <a:off x="3164696" y="5738152"/>
            <a:ext cx="528609" cy="2415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b="1" dirty="0"/>
              <a:t>Zhang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FB18E4-E213-C98B-482A-5829C767661C}"/>
              </a:ext>
            </a:extLst>
          </p:cNvPr>
          <p:cNvSpPr txBox="1"/>
          <p:nvPr/>
        </p:nvSpPr>
        <p:spPr>
          <a:xfrm>
            <a:off x="50461" y="5569099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144A60-71DD-3C6A-52F2-78F1B7E42499}"/>
              </a:ext>
            </a:extLst>
          </p:cNvPr>
          <p:cNvSpPr txBox="1"/>
          <p:nvPr/>
        </p:nvSpPr>
        <p:spPr>
          <a:xfrm>
            <a:off x="4608174" y="5569099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130434F-555F-6D16-1268-A443E9E8EB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592" y="1742056"/>
            <a:ext cx="1687706" cy="167900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D6C8E40-4F10-B0E9-44FB-E95FB76057FC}"/>
              </a:ext>
            </a:extLst>
          </p:cNvPr>
          <p:cNvSpPr txBox="1"/>
          <p:nvPr/>
        </p:nvSpPr>
        <p:spPr>
          <a:xfrm>
            <a:off x="50461" y="169718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4E7AF6-9863-715A-8926-CD4F89AA9B26}"/>
              </a:ext>
            </a:extLst>
          </p:cNvPr>
          <p:cNvSpPr txBox="1"/>
          <p:nvPr/>
        </p:nvSpPr>
        <p:spPr>
          <a:xfrm>
            <a:off x="50461" y="11878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520363C5-3891-1353-F04C-AA4AAEB135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260" y="5970646"/>
            <a:ext cx="1687706" cy="1679007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89CFAC7A-7AB0-DEA2-D81D-9BF121BE0B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260" y="7964411"/>
            <a:ext cx="1687706" cy="1679007"/>
          </a:xfrm>
          <a:prstGeom prst="rect">
            <a:avLst/>
          </a:prstGeom>
        </p:spPr>
      </p:pic>
      <p:pic>
        <p:nvPicPr>
          <p:cNvPr id="62" name="Picture 61" descr="A close-up of several datasets&#10;&#10;AI-generated content may be incorrect.">
            <a:extLst>
              <a:ext uri="{FF2B5EF4-FFF2-40B4-BE49-F238E27FC236}">
                <a16:creationId xmlns:a16="http://schemas.microsoft.com/office/drawing/2014/main" id="{7026A683-4570-AB88-B885-6769D8CEDB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481" y="3739717"/>
            <a:ext cx="1905986" cy="184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85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B41F8-6F9D-03F5-C3B2-F4B616183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91432FCA-9F3B-6DAF-385D-36C1E17314A6}"/>
              </a:ext>
            </a:extLst>
          </p:cNvPr>
          <p:cNvSpPr txBox="1"/>
          <p:nvPr/>
        </p:nvSpPr>
        <p:spPr>
          <a:xfrm>
            <a:off x="50461" y="486611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E67AD4E-050F-6185-7FAD-FE08813E9D4F}"/>
              </a:ext>
            </a:extLst>
          </p:cNvPr>
          <p:cNvCxnSpPr>
            <a:cxnSpLocks/>
            <a:stCxn id="41" idx="6"/>
            <a:endCxn id="40" idx="2"/>
          </p:cNvCxnSpPr>
          <p:nvPr/>
        </p:nvCxnSpPr>
        <p:spPr>
          <a:xfrm>
            <a:off x="1214780" y="9347057"/>
            <a:ext cx="13428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8A195A11-3082-3DC4-656A-36DF1278B67E}"/>
              </a:ext>
            </a:extLst>
          </p:cNvPr>
          <p:cNvSpPr/>
          <p:nvPr/>
        </p:nvSpPr>
        <p:spPr>
          <a:xfrm>
            <a:off x="2557648" y="9229431"/>
            <a:ext cx="235250" cy="23525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795CED0-B56D-5CD2-CAD3-DCB469F2260D}"/>
              </a:ext>
            </a:extLst>
          </p:cNvPr>
          <p:cNvSpPr/>
          <p:nvPr/>
        </p:nvSpPr>
        <p:spPr>
          <a:xfrm>
            <a:off x="979529" y="9229431"/>
            <a:ext cx="235250" cy="23525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1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1A999DD-CB01-1F0C-D3DA-2AE5C4D403B1}"/>
              </a:ext>
            </a:extLst>
          </p:cNvPr>
          <p:cNvSpPr/>
          <p:nvPr/>
        </p:nvSpPr>
        <p:spPr>
          <a:xfrm>
            <a:off x="4135766" y="9229431"/>
            <a:ext cx="235250" cy="23525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3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428DE72-DAFB-094D-A595-5FF72DB51864}"/>
              </a:ext>
            </a:extLst>
          </p:cNvPr>
          <p:cNvSpPr/>
          <p:nvPr/>
        </p:nvSpPr>
        <p:spPr>
          <a:xfrm>
            <a:off x="5774581" y="9229431"/>
            <a:ext cx="235250" cy="23525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3</a:t>
            </a:r>
          </a:p>
        </p:txBody>
      </p: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463EDA78-E1A9-E24D-CB0E-13EDE4D14BEB}"/>
              </a:ext>
            </a:extLst>
          </p:cNvPr>
          <p:cNvCxnSpPr>
            <a:cxnSpLocks/>
            <a:stCxn id="40" idx="4"/>
            <a:endCxn id="47" idx="4"/>
          </p:cNvCxnSpPr>
          <p:nvPr/>
        </p:nvCxnSpPr>
        <p:spPr>
          <a:xfrm rot="16200000" flipH="1">
            <a:off x="4283740" y="7856215"/>
            <a:ext cx="12118" cy="3216933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2101EF7-55E0-4402-8FF1-A40D041918B8}"/>
              </a:ext>
            </a:extLst>
          </p:cNvPr>
          <p:cNvCxnSpPr>
            <a:stCxn id="40" idx="6"/>
            <a:endCxn id="46" idx="2"/>
          </p:cNvCxnSpPr>
          <p:nvPr/>
        </p:nvCxnSpPr>
        <p:spPr>
          <a:xfrm>
            <a:off x="2792899" y="9347057"/>
            <a:ext cx="13428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6736B112-866C-7958-951B-21A825C35358}"/>
              </a:ext>
            </a:extLst>
          </p:cNvPr>
          <p:cNvSpPr txBox="1"/>
          <p:nvPr/>
        </p:nvSpPr>
        <p:spPr>
          <a:xfrm>
            <a:off x="199792" y="5246474"/>
            <a:ext cx="27924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</a:t>
            </a:r>
            <a:r>
              <a:rPr lang="en-US" sz="900" dirty="0" err="1"/>
              <a:t>i</a:t>
            </a:r>
            <a:r>
              <a:rPr lang="en-US" sz="900" dirty="0"/>
              <a:t>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23B5D0-FC89-83B2-BCFB-74399E68D826}"/>
              </a:ext>
            </a:extLst>
          </p:cNvPr>
          <p:cNvSpPr txBox="1"/>
          <p:nvPr/>
        </p:nvSpPr>
        <p:spPr>
          <a:xfrm>
            <a:off x="172542" y="6591441"/>
            <a:ext cx="3064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(ii)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087F84D-C16E-73E3-0126-E3D3685D70FF}"/>
              </a:ext>
            </a:extLst>
          </p:cNvPr>
          <p:cNvSpPr txBox="1"/>
          <p:nvPr/>
        </p:nvSpPr>
        <p:spPr>
          <a:xfrm>
            <a:off x="140482" y="7921659"/>
            <a:ext cx="3337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(iii)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4391A6F-29C8-E037-4695-C3EBD23E09E7}"/>
              </a:ext>
            </a:extLst>
          </p:cNvPr>
          <p:cNvSpPr txBox="1"/>
          <p:nvPr/>
        </p:nvSpPr>
        <p:spPr>
          <a:xfrm>
            <a:off x="50461" y="3280277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743C67E-C3EF-C16F-D88B-6D37DACA1EE7}"/>
              </a:ext>
            </a:extLst>
          </p:cNvPr>
          <p:cNvSpPr txBox="1"/>
          <p:nvPr/>
        </p:nvSpPr>
        <p:spPr>
          <a:xfrm>
            <a:off x="50461" y="11878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90" name="Left Bracket 89">
            <a:extLst>
              <a:ext uri="{FF2B5EF4-FFF2-40B4-BE49-F238E27FC236}">
                <a16:creationId xmlns:a16="http://schemas.microsoft.com/office/drawing/2014/main" id="{2AE6451E-3330-60F5-5DEE-7E10D082F846}"/>
              </a:ext>
            </a:extLst>
          </p:cNvPr>
          <p:cNvSpPr/>
          <p:nvPr/>
        </p:nvSpPr>
        <p:spPr>
          <a:xfrm rot="16200000">
            <a:off x="3440697" y="-1309669"/>
            <a:ext cx="53347" cy="6061737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AA45342-CB85-F14C-BA39-5BEBA11544C4}"/>
              </a:ext>
            </a:extLst>
          </p:cNvPr>
          <p:cNvCxnSpPr>
            <a:cxnSpLocks/>
          </p:cNvCxnSpPr>
          <p:nvPr/>
        </p:nvCxnSpPr>
        <p:spPr>
          <a:xfrm flipH="1">
            <a:off x="3452884" y="1755763"/>
            <a:ext cx="150" cy="1627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5372415-3B5F-D622-B293-771B6A106CC7}"/>
              </a:ext>
            </a:extLst>
          </p:cNvPr>
          <p:cNvSpPr txBox="1"/>
          <p:nvPr/>
        </p:nvSpPr>
        <p:spPr>
          <a:xfrm>
            <a:off x="623500" y="3520156"/>
            <a:ext cx="87716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Broad: Immature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39E4D6-C0DC-5DCA-3A3B-421F6167B4A2}"/>
              </a:ext>
            </a:extLst>
          </p:cNvPr>
          <p:cNvSpPr txBox="1"/>
          <p:nvPr/>
        </p:nvSpPr>
        <p:spPr>
          <a:xfrm>
            <a:off x="2155386" y="3520156"/>
            <a:ext cx="105189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Simplified: Immature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B42DA9-38B3-1D0F-855D-4E0F6156D6DD}"/>
              </a:ext>
            </a:extLst>
          </p:cNvPr>
          <p:cNvSpPr txBox="1"/>
          <p:nvPr/>
        </p:nvSpPr>
        <p:spPr>
          <a:xfrm>
            <a:off x="3571954" y="3417745"/>
            <a:ext cx="1362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Simplified: Immature</a:t>
            </a:r>
          </a:p>
          <a:p>
            <a:pPr algn="ctr"/>
            <a:r>
              <a:rPr lang="en-US" sz="700" b="1" dirty="0"/>
              <a:t>(with hierarchical constraint)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B5E62B-6D87-AF8F-22F2-9F28E782F92B}"/>
              </a:ext>
            </a:extLst>
          </p:cNvPr>
          <p:cNvSpPr txBox="1"/>
          <p:nvPr/>
        </p:nvSpPr>
        <p:spPr>
          <a:xfrm>
            <a:off x="623500" y="5109176"/>
            <a:ext cx="87716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Broad: Immature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5DC6D0-0D0B-04E3-D2A3-2D769C4F66DF}"/>
              </a:ext>
            </a:extLst>
          </p:cNvPr>
          <p:cNvSpPr txBox="1"/>
          <p:nvPr/>
        </p:nvSpPr>
        <p:spPr>
          <a:xfrm>
            <a:off x="2238742" y="5109176"/>
            <a:ext cx="88517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Simplified: HSPC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DE4266-2020-FCE4-E48B-4EBE424624EA}"/>
              </a:ext>
            </a:extLst>
          </p:cNvPr>
          <p:cNvSpPr txBox="1"/>
          <p:nvPr/>
        </p:nvSpPr>
        <p:spPr>
          <a:xfrm>
            <a:off x="3760308" y="5109176"/>
            <a:ext cx="9861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Detailed: HSC_MPP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963119-AE44-0531-5D9B-001BA5A6A8BD}"/>
              </a:ext>
            </a:extLst>
          </p:cNvPr>
          <p:cNvSpPr txBox="1"/>
          <p:nvPr/>
        </p:nvSpPr>
        <p:spPr>
          <a:xfrm>
            <a:off x="679604" y="6455103"/>
            <a:ext cx="7649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Broad: Mature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F47FC7-07DD-328B-9D71-02F4FDE217F3}"/>
              </a:ext>
            </a:extLst>
          </p:cNvPr>
          <p:cNvSpPr txBox="1"/>
          <p:nvPr/>
        </p:nvSpPr>
        <p:spPr>
          <a:xfrm>
            <a:off x="2225918" y="6455103"/>
            <a:ext cx="9108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Simplified: CD4_T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AA3210-A6CA-03DE-6304-E4D61806454D}"/>
              </a:ext>
            </a:extLst>
          </p:cNvPr>
          <p:cNvSpPr txBox="1"/>
          <p:nvPr/>
        </p:nvSpPr>
        <p:spPr>
          <a:xfrm>
            <a:off x="3644891" y="6455103"/>
            <a:ext cx="1217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Detailed: CD4_T_Memory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CC0E77-7172-E5C8-D091-42B56DB32622}"/>
              </a:ext>
            </a:extLst>
          </p:cNvPr>
          <p:cNvSpPr txBox="1"/>
          <p:nvPr/>
        </p:nvSpPr>
        <p:spPr>
          <a:xfrm>
            <a:off x="5283652" y="6455103"/>
            <a:ext cx="111601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Detailed: CD4_T_Naive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5CEF40-3018-69EC-7035-A4B33270D4C9}"/>
              </a:ext>
            </a:extLst>
          </p:cNvPr>
          <p:cNvSpPr txBox="1"/>
          <p:nvPr/>
        </p:nvSpPr>
        <p:spPr>
          <a:xfrm>
            <a:off x="679604" y="7782253"/>
            <a:ext cx="7649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Broad: Mature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B74D45-8D7E-5034-3F9C-6317627290F8}"/>
              </a:ext>
            </a:extLst>
          </p:cNvPr>
          <p:cNvSpPr txBox="1"/>
          <p:nvPr/>
        </p:nvSpPr>
        <p:spPr>
          <a:xfrm>
            <a:off x="2329312" y="7782253"/>
            <a:ext cx="70403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Simplified: 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1ABC0F-AF2A-9BC6-27E7-62A97F4A0B2F}"/>
              </a:ext>
            </a:extLst>
          </p:cNvPr>
          <p:cNvSpPr txBox="1"/>
          <p:nvPr/>
        </p:nvSpPr>
        <p:spPr>
          <a:xfrm>
            <a:off x="3798780" y="7782253"/>
            <a:ext cx="90922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Detailed: </a:t>
            </a:r>
            <a:r>
              <a:rPr lang="en-US" sz="700" b="1" dirty="0" err="1"/>
              <a:t>B_Naive</a:t>
            </a:r>
            <a:endParaRPr lang="en-US" sz="7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3D1BEC-B2E9-6404-5D91-B025F257E0C0}"/>
              </a:ext>
            </a:extLst>
          </p:cNvPr>
          <p:cNvSpPr txBox="1"/>
          <p:nvPr/>
        </p:nvSpPr>
        <p:spPr>
          <a:xfrm>
            <a:off x="5336552" y="7782253"/>
            <a:ext cx="101021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Detailed: </a:t>
            </a:r>
            <a:r>
              <a:rPr lang="en-US" sz="700" b="1" dirty="0" err="1"/>
              <a:t>B_Memory</a:t>
            </a:r>
            <a:endParaRPr lang="en-US" sz="7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353981-C7BC-E582-F9DB-2B4091C33AAD}"/>
              </a:ext>
            </a:extLst>
          </p:cNvPr>
          <p:cNvSpPr txBox="1"/>
          <p:nvPr/>
        </p:nvSpPr>
        <p:spPr>
          <a:xfrm>
            <a:off x="501674" y="321183"/>
            <a:ext cx="11208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Hao – Broad: Immature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D9769E-00D9-CBD5-E3D7-A934154C2783}"/>
              </a:ext>
            </a:extLst>
          </p:cNvPr>
          <p:cNvSpPr txBox="1"/>
          <p:nvPr/>
        </p:nvSpPr>
        <p:spPr>
          <a:xfrm>
            <a:off x="2080046" y="321183"/>
            <a:ext cx="12025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Zhang – Broad: Immature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AC51EA-2333-834B-445C-7960D7F17F35}"/>
              </a:ext>
            </a:extLst>
          </p:cNvPr>
          <p:cNvSpPr txBox="1"/>
          <p:nvPr/>
        </p:nvSpPr>
        <p:spPr>
          <a:xfrm>
            <a:off x="3649703" y="321183"/>
            <a:ext cx="12073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Triana – Broad: Immature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1EB8A8-2464-567B-3635-9C573D4FDA31}"/>
              </a:ext>
            </a:extLst>
          </p:cNvPr>
          <p:cNvSpPr txBox="1"/>
          <p:nvPr/>
        </p:nvSpPr>
        <p:spPr>
          <a:xfrm>
            <a:off x="5224481" y="321183"/>
            <a:ext cx="13019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 err="1"/>
              <a:t>Luecken</a:t>
            </a:r>
            <a:r>
              <a:rPr lang="en-US" sz="700" b="1" dirty="0"/>
              <a:t> – Broad: Immature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FF6290-7799-7D2C-7E7B-12660CF14C20}"/>
              </a:ext>
            </a:extLst>
          </p:cNvPr>
          <p:cNvSpPr txBox="1"/>
          <p:nvPr/>
        </p:nvSpPr>
        <p:spPr>
          <a:xfrm>
            <a:off x="2767981" y="1970634"/>
            <a:ext cx="13260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/>
              <a:t>Averaged - Broad: Immature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B0B36343-1E54-47D3-72BC-5CB17E2B64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99"/>
          <a:stretch>
            <a:fillRect/>
          </a:stretch>
        </p:blipFill>
        <p:spPr>
          <a:xfrm>
            <a:off x="399926" y="521208"/>
            <a:ext cx="6290698" cy="112299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27A71AB-D953-B298-9DAA-3A21653892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77"/>
          <a:stretch>
            <a:fillRect/>
          </a:stretch>
        </p:blipFill>
        <p:spPr>
          <a:xfrm>
            <a:off x="398633" y="6639306"/>
            <a:ext cx="6239911" cy="115471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00D090EC-B265-7776-C286-B56F1485A1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739"/>
          <a:stretch>
            <a:fillRect/>
          </a:stretch>
        </p:blipFill>
        <p:spPr>
          <a:xfrm>
            <a:off x="2801996" y="2170689"/>
            <a:ext cx="1395303" cy="112162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CDEAD25-E510-DD04-A0ED-CC5DF2CAA73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918"/>
          <a:stretch>
            <a:fillRect/>
          </a:stretch>
        </p:blipFill>
        <p:spPr>
          <a:xfrm>
            <a:off x="398633" y="7982712"/>
            <a:ext cx="6239906" cy="1155462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11C4F25-DAE8-24D2-DA05-A4BE978403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9044"/>
          <a:stretch>
            <a:fillRect/>
          </a:stretch>
        </p:blipFill>
        <p:spPr>
          <a:xfrm>
            <a:off x="398633" y="3703319"/>
            <a:ext cx="4733289" cy="1140453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75F14D99-3D9F-E477-212F-20E70C2B01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271"/>
          <a:stretch>
            <a:fillRect/>
          </a:stretch>
        </p:blipFill>
        <p:spPr>
          <a:xfrm>
            <a:off x="404648" y="5303520"/>
            <a:ext cx="4635434" cy="1132846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42B70CD-E32A-DDF7-23A6-69CE46CF0BCF}"/>
              </a:ext>
            </a:extLst>
          </p:cNvPr>
          <p:cNvCxnSpPr/>
          <p:nvPr/>
        </p:nvCxnSpPr>
        <p:spPr>
          <a:xfrm>
            <a:off x="1927650" y="5414125"/>
            <a:ext cx="0" cy="35813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73D1FFA-72FF-120E-247D-98882FF95101}"/>
              </a:ext>
            </a:extLst>
          </p:cNvPr>
          <p:cNvCxnSpPr/>
          <p:nvPr/>
        </p:nvCxnSpPr>
        <p:spPr>
          <a:xfrm>
            <a:off x="3540791" y="5414125"/>
            <a:ext cx="0" cy="35813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476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433AC-2BD2-8959-4691-E8F810684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4C1012B-49ED-CE68-DA16-5726958638E6}"/>
              </a:ext>
            </a:extLst>
          </p:cNvPr>
          <p:cNvSpPr txBox="1"/>
          <p:nvPr/>
        </p:nvSpPr>
        <p:spPr>
          <a:xfrm>
            <a:off x="47230" y="2880193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95507-40B6-A6FD-4A77-364C46DB9A8B}"/>
              </a:ext>
            </a:extLst>
          </p:cNvPr>
          <p:cNvSpPr txBox="1"/>
          <p:nvPr/>
        </p:nvSpPr>
        <p:spPr>
          <a:xfrm>
            <a:off x="2645448" y="288019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3BF401-B70D-554D-C152-993F36C3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05" b="11154"/>
          <a:stretch>
            <a:fillRect/>
          </a:stretch>
        </p:blipFill>
        <p:spPr>
          <a:xfrm>
            <a:off x="247775" y="584947"/>
            <a:ext cx="1855419" cy="1553135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1D54921-88BF-21AB-7876-627FEB140CF3}"/>
              </a:ext>
            </a:extLst>
          </p:cNvPr>
          <p:cNvSpPr txBox="1"/>
          <p:nvPr/>
        </p:nvSpPr>
        <p:spPr>
          <a:xfrm>
            <a:off x="47230" y="11878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0EACF49-E00B-E431-1CCE-D97A40ED9E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02" t="91046" r="27714" b="2871"/>
          <a:stretch>
            <a:fillRect/>
          </a:stretch>
        </p:blipFill>
        <p:spPr>
          <a:xfrm>
            <a:off x="659403" y="2186536"/>
            <a:ext cx="1032161" cy="15063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1BC2D4C3-7118-5FA3-478E-31253C5F2512}"/>
              </a:ext>
            </a:extLst>
          </p:cNvPr>
          <p:cNvSpPr txBox="1"/>
          <p:nvPr/>
        </p:nvSpPr>
        <p:spPr>
          <a:xfrm>
            <a:off x="533653" y="323337"/>
            <a:ext cx="12939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Broad annotation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4FBB1CA-E9DC-D15F-D071-1B8ED0ABEB64}"/>
              </a:ext>
            </a:extLst>
          </p:cNvPr>
          <p:cNvSpPr txBox="1"/>
          <p:nvPr/>
        </p:nvSpPr>
        <p:spPr>
          <a:xfrm>
            <a:off x="2533948" y="323337"/>
            <a:ext cx="15728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Simplified annotation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9D0973-C118-C83D-489C-C9D990EF57D6}"/>
              </a:ext>
            </a:extLst>
          </p:cNvPr>
          <p:cNvSpPr txBox="1"/>
          <p:nvPr/>
        </p:nvSpPr>
        <p:spPr>
          <a:xfrm>
            <a:off x="4804409" y="323337"/>
            <a:ext cx="1462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Detailed annotation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6A86D55-BEFF-F9B5-4AB2-D69D3C660854}"/>
              </a:ext>
            </a:extLst>
          </p:cNvPr>
          <p:cNvSpPr txBox="1"/>
          <p:nvPr/>
        </p:nvSpPr>
        <p:spPr>
          <a:xfrm>
            <a:off x="562152" y="3050436"/>
            <a:ext cx="129073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/>
              <a:t>High resolution </a:t>
            </a:r>
          </a:p>
          <a:p>
            <a:pPr algn="ctr"/>
            <a:r>
              <a:rPr lang="en-US" sz="1100" b="1" dirty="0"/>
              <a:t>Leiden clustering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B65692-45DD-A8AF-CAE6-3BA5EEC9E492}"/>
              </a:ext>
            </a:extLst>
          </p:cNvPr>
          <p:cNvSpPr txBox="1"/>
          <p:nvPr/>
        </p:nvSpPr>
        <p:spPr>
          <a:xfrm>
            <a:off x="433110" y="5976735"/>
            <a:ext cx="15488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dirty="0"/>
              <a:t>Dominant annotation</a:t>
            </a:r>
          </a:p>
          <a:p>
            <a:pPr algn="ctr"/>
            <a:r>
              <a:rPr lang="en-US" sz="1100" b="1" dirty="0"/>
              <a:t>across clusters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31013A2-EDAD-1E98-34C9-019BF823EC4A}"/>
              </a:ext>
            </a:extLst>
          </p:cNvPr>
          <p:cNvCxnSpPr>
            <a:cxnSpLocks/>
          </p:cNvCxnSpPr>
          <p:nvPr/>
        </p:nvCxnSpPr>
        <p:spPr>
          <a:xfrm>
            <a:off x="1185333" y="5869313"/>
            <a:ext cx="0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59EFC5F-7F78-35E3-4B67-06A1B6020A24}"/>
              </a:ext>
            </a:extLst>
          </p:cNvPr>
          <p:cNvCxnSpPr>
            <a:cxnSpLocks/>
          </p:cNvCxnSpPr>
          <p:nvPr/>
        </p:nvCxnSpPr>
        <p:spPr>
          <a:xfrm flipV="1">
            <a:off x="2109544" y="1358900"/>
            <a:ext cx="284596" cy="2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8F740CB-6716-9814-7B64-7655B1C914E5}"/>
              </a:ext>
            </a:extLst>
          </p:cNvPr>
          <p:cNvCxnSpPr>
            <a:cxnSpLocks/>
          </p:cNvCxnSpPr>
          <p:nvPr/>
        </p:nvCxnSpPr>
        <p:spPr>
          <a:xfrm flipV="1">
            <a:off x="4255844" y="1358900"/>
            <a:ext cx="284596" cy="2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4" name="Picture 83">
            <a:extLst>
              <a:ext uri="{FF2B5EF4-FFF2-40B4-BE49-F238E27FC236}">
                <a16:creationId xmlns:a16="http://schemas.microsoft.com/office/drawing/2014/main" id="{0BFDCE4B-0BDE-C184-1BA2-5FF838396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52"/>
          <a:stretch>
            <a:fillRect/>
          </a:stretch>
        </p:blipFill>
        <p:spPr>
          <a:xfrm>
            <a:off x="2391290" y="584200"/>
            <a:ext cx="1866917" cy="1954782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8B5CFC9C-DB72-5F29-C488-7240FBC57D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426"/>
          <a:stretch>
            <a:fillRect/>
          </a:stretch>
        </p:blipFill>
        <p:spPr>
          <a:xfrm>
            <a:off x="210897" y="3481323"/>
            <a:ext cx="1981200" cy="2374884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0C1A0984-6319-1F94-F0CC-3CBEB6CA67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526" b="10901"/>
          <a:stretch>
            <a:fillRect/>
          </a:stretch>
        </p:blipFill>
        <p:spPr>
          <a:xfrm>
            <a:off x="247775" y="585216"/>
            <a:ext cx="1849356" cy="155448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3AC353C0-AE6D-6258-3B5B-A5F04F040C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186" b="17806"/>
          <a:stretch>
            <a:fillRect/>
          </a:stretch>
        </p:blipFill>
        <p:spPr>
          <a:xfrm>
            <a:off x="2413128" y="585217"/>
            <a:ext cx="1842484" cy="1554479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816C5292-9202-A252-CA19-815E72094B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996" b="17829"/>
          <a:stretch>
            <a:fillRect/>
          </a:stretch>
        </p:blipFill>
        <p:spPr>
          <a:xfrm>
            <a:off x="2412511" y="578224"/>
            <a:ext cx="1844696" cy="1559858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9B302435-C236-5AF6-5261-85A49431F5D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570" t="7070"/>
          <a:stretch>
            <a:fillRect/>
          </a:stretch>
        </p:blipFill>
        <p:spPr>
          <a:xfrm>
            <a:off x="4591273" y="578224"/>
            <a:ext cx="1884190" cy="2397323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DD33B58D-A204-9B74-C03D-47C85051533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8646"/>
          <a:stretch>
            <a:fillRect/>
          </a:stretch>
        </p:blipFill>
        <p:spPr>
          <a:xfrm>
            <a:off x="61234" y="6392332"/>
            <a:ext cx="2301173" cy="2114797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47EE597D-0D96-CE6E-F9B7-A60C8CFBEE4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570"/>
          <a:stretch>
            <a:fillRect/>
          </a:stretch>
        </p:blipFill>
        <p:spPr>
          <a:xfrm>
            <a:off x="2176040" y="3430074"/>
            <a:ext cx="4616941" cy="4876800"/>
          </a:xfrm>
          <a:prstGeom prst="rect">
            <a:avLst/>
          </a:prstGeom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8F79A3C7-3758-ABA2-D051-623D19AB28CA}"/>
              </a:ext>
            </a:extLst>
          </p:cNvPr>
          <p:cNvSpPr/>
          <p:nvPr/>
        </p:nvSpPr>
        <p:spPr>
          <a:xfrm>
            <a:off x="4641448" y="6429736"/>
            <a:ext cx="69448" cy="68869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CCC3711-8C8A-2863-910E-0691A9C4F4FB}"/>
              </a:ext>
            </a:extLst>
          </p:cNvPr>
          <p:cNvSpPr/>
          <p:nvPr/>
        </p:nvSpPr>
        <p:spPr>
          <a:xfrm>
            <a:off x="3688466" y="7125872"/>
            <a:ext cx="69448" cy="3703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70B9D04-E717-7E1A-2903-ED7F31E743EB}"/>
              </a:ext>
            </a:extLst>
          </p:cNvPr>
          <p:cNvSpPr/>
          <p:nvPr/>
        </p:nvSpPr>
        <p:spPr>
          <a:xfrm>
            <a:off x="5124484" y="7125872"/>
            <a:ext cx="69448" cy="37039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87A98D5-DF48-4B7D-ABAB-3A0C7B7DC3DE}"/>
              </a:ext>
            </a:extLst>
          </p:cNvPr>
          <p:cNvSpPr/>
          <p:nvPr/>
        </p:nvSpPr>
        <p:spPr>
          <a:xfrm>
            <a:off x="3819590" y="7504944"/>
            <a:ext cx="65081" cy="3617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9349FE6-26E4-B96E-4675-6C20F1DA57B3}"/>
              </a:ext>
            </a:extLst>
          </p:cNvPr>
          <p:cNvSpPr/>
          <p:nvPr/>
        </p:nvSpPr>
        <p:spPr>
          <a:xfrm>
            <a:off x="4032357" y="7504944"/>
            <a:ext cx="65081" cy="3617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65F0267-DF76-487A-4F0D-FCF31AE07D45}"/>
              </a:ext>
            </a:extLst>
          </p:cNvPr>
          <p:cNvSpPr/>
          <p:nvPr/>
        </p:nvSpPr>
        <p:spPr>
          <a:xfrm>
            <a:off x="5591644" y="5550670"/>
            <a:ext cx="81023" cy="87906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55B39D5-3CBB-979C-8201-85091648EDA9}"/>
              </a:ext>
            </a:extLst>
          </p:cNvPr>
          <p:cNvSpPr/>
          <p:nvPr/>
        </p:nvSpPr>
        <p:spPr>
          <a:xfrm>
            <a:off x="3688466" y="5084716"/>
            <a:ext cx="69448" cy="20491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290B7F8-B780-18F5-7318-539CD1323179}"/>
              </a:ext>
            </a:extLst>
          </p:cNvPr>
          <p:cNvSpPr/>
          <p:nvPr/>
        </p:nvSpPr>
        <p:spPr>
          <a:xfrm>
            <a:off x="3882051" y="5460895"/>
            <a:ext cx="75234" cy="8977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E55D0A2-B11F-057E-F30B-36FA349B7748}"/>
              </a:ext>
            </a:extLst>
          </p:cNvPr>
          <p:cNvSpPr/>
          <p:nvPr/>
        </p:nvSpPr>
        <p:spPr>
          <a:xfrm>
            <a:off x="3555359" y="3545284"/>
            <a:ext cx="69448" cy="15394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303F3EC-2005-ABB7-94D9-4265BAB49DA8}"/>
              </a:ext>
            </a:extLst>
          </p:cNvPr>
          <p:cNvSpPr/>
          <p:nvPr/>
        </p:nvSpPr>
        <p:spPr>
          <a:xfrm>
            <a:off x="3202331" y="3545284"/>
            <a:ext cx="69448" cy="15394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06517966-DBF3-5C40-C2BD-629E3A52BFC7}"/>
              </a:ext>
            </a:extLst>
          </p:cNvPr>
          <p:cNvSpPr/>
          <p:nvPr/>
        </p:nvSpPr>
        <p:spPr>
          <a:xfrm>
            <a:off x="4288363" y="3497221"/>
            <a:ext cx="74087" cy="4607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D466997-F1C4-FFCF-86CA-228B7406C772}"/>
              </a:ext>
            </a:extLst>
          </p:cNvPr>
          <p:cNvSpPr/>
          <p:nvPr/>
        </p:nvSpPr>
        <p:spPr>
          <a:xfrm>
            <a:off x="4361388" y="3497221"/>
            <a:ext cx="74087" cy="4607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C6ED385-F587-881C-BFFF-0E21E1A434EE}"/>
              </a:ext>
            </a:extLst>
          </p:cNvPr>
          <p:cNvSpPr/>
          <p:nvPr/>
        </p:nvSpPr>
        <p:spPr>
          <a:xfrm>
            <a:off x="3351738" y="3497221"/>
            <a:ext cx="74087" cy="4607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4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8455</TotalTime>
  <Words>129</Words>
  <Application>Microsoft Macintosh PowerPoint</Application>
  <PresentationFormat>A4 Paper (210x297 mm)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Gurashi</dc:creator>
  <cp:lastModifiedBy>Kristian Gurashi</cp:lastModifiedBy>
  <cp:revision>5</cp:revision>
  <dcterms:created xsi:type="dcterms:W3CDTF">2025-07-23T14:44:41Z</dcterms:created>
  <dcterms:modified xsi:type="dcterms:W3CDTF">2025-08-19T09:13:00Z</dcterms:modified>
</cp:coreProperties>
</file>